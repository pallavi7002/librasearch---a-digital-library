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project, its real-world purpose, and the technology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problem first, then show how algorithmic search solves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layered architecture and the main SQLite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DAA algorithm briefly; emphasize how it maps to a user-facing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features as one user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end-to-end workflow, four-member division, and live-demo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182880"/>
            <a:ext cx="1463040" cy="1463040"/>
          </a:xfrm>
          <a:prstGeom prst="ellipse">
            <a:avLst/>
          </a:prstGeom>
          <a:solidFill>
            <a:srgbClr val="A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486400"/>
            <a:ext cx="1097280" cy="1097280"/>
          </a:xfrm>
          <a:prstGeom prst="ellipse">
            <a:avLst/>
          </a:prstGeom>
          <a:solidFill>
            <a:srgbClr val="4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669280"/>
            <a:ext cx="1188720" cy="1188720"/>
          </a:xfrm>
          <a:prstGeom prst="ellipse">
            <a:avLst/>
          </a:prstGeom>
          <a:solidFill>
            <a:srgbClr val="F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02920"/>
            <a:ext cx="2788920" cy="310896"/>
          </a:xfrm>
          <a:prstGeom prst="roundRect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34924"/>
            <a:ext cx="2734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DAA + WEB DEVELOPMENT + DIGITAL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2F7FF"/>
                </a:solidFill>
                <a:latin typeface="Aptos"/>
              </a:rPr>
              <a:t>LIBRASEARCH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48D2FF"/>
                </a:solidFill>
                <a:latin typeface="Aptos"/>
              </a:rPr>
              <a:t>Digital Library Search 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943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9BAD2"/>
                </a:solidFill>
                <a:latin typeface="Aptos"/>
              </a:rPr>
              <a:t>A practical application of Design &amp; Analysis of Algorithms
for faster search, ranking, typo correction and related-resource discovery.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45C"/>
                </a:solidFill>
                <a:latin typeface="Aptos"/>
              </a:rPr>
              <a:t>REAL-WORLD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43984"/>
            <a:ext cx="60350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7FF"/>
                </a:solidFill>
                <a:latin typeface="Aptos"/>
              </a:rPr>
              <a:t>Students and researchers need to discover useful digital resources quickly — without manually scanning a growing library.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417320"/>
            <a:ext cx="914400" cy="3749039"/>
          </a:xfrm>
          <a:prstGeom prst="roundRect">
            <a:avLst/>
          </a:prstGeom>
          <a:solidFill>
            <a:srgbClr val="A075FF"/>
          </a:solidFill>
          <a:ln>
            <a:solidFill>
              <a:srgbClr val="A0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971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80F1E"/>
                </a:solidFill>
                <a:latin typeface="Aptos"/>
              </a:rPr>
              <a:t>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097280"/>
            <a:ext cx="914400" cy="3749039"/>
          </a:xfrm>
          <a:prstGeom prst="roundRect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6517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80F1E"/>
                </a:solidFill>
                <a:latin typeface="Aptos"/>
              </a:rPr>
              <a:t>DAA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554480"/>
            <a:ext cx="914400" cy="3749039"/>
          </a:xfrm>
          <a:prstGeom prst="roundRect">
            <a:avLst/>
          </a:prstGeom>
          <a:solidFill>
            <a:srgbClr val="58E0A6"/>
          </a:solidFill>
          <a:ln>
            <a:solidFill>
              <a:srgbClr val="58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31089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80F1E"/>
                </a:solidFill>
                <a:latin typeface="Aptos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52760" y="1005840"/>
            <a:ext cx="914400" cy="3749039"/>
          </a:xfrm>
          <a:prstGeom prst="round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2560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80F1E"/>
                </a:solidFill>
                <a:latin typeface="Aptos"/>
              </a:rPr>
              <a:t>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532120"/>
            <a:ext cx="777240" cy="310896"/>
          </a:xfrm>
          <a:prstGeom prst="roundRect">
            <a:avLst/>
          </a:prstGeom>
          <a:solidFill>
            <a:srgbClr val="A075FF"/>
          </a:solidFill>
          <a:ln>
            <a:solidFill>
              <a:srgbClr val="A0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564124"/>
            <a:ext cx="722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Flask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72768" y="5532120"/>
            <a:ext cx="868680" cy="310896"/>
          </a:xfrm>
          <a:prstGeom prst="roundRect">
            <a:avLst/>
          </a:prstGeom>
          <a:solidFill>
            <a:srgbClr val="58E0A6"/>
          </a:solidFill>
          <a:ln>
            <a:solidFill>
              <a:srgbClr val="58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5564124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SQLite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5532120"/>
            <a:ext cx="868680" cy="310896"/>
          </a:xfrm>
          <a:prstGeom prst="round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87751" y="5564124"/>
            <a:ext cx="81381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47872" y="5532120"/>
            <a:ext cx="685800" cy="310896"/>
          </a:xfrm>
          <a:prstGeom prst="roundRect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3" y="5564124"/>
            <a:ext cx="630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DAA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9BAD2"/>
                </a:solidFill>
                <a:latin typeface="Aptos"/>
              </a:rPr>
              <a:t>LibraSearch • Digital Library Search Optimizer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182880"/>
            <a:ext cx="1463040" cy="1463040"/>
          </a:xfrm>
          <a:prstGeom prst="ellipse">
            <a:avLst/>
          </a:prstGeom>
          <a:solidFill>
            <a:srgbClr val="A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486400"/>
            <a:ext cx="1097280" cy="1097280"/>
          </a:xfrm>
          <a:prstGeom prst="ellipse">
            <a:avLst/>
          </a:prstGeom>
          <a:solidFill>
            <a:srgbClr val="4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669280"/>
            <a:ext cx="1188720" cy="1188720"/>
          </a:xfrm>
          <a:prstGeom prst="ellipse">
            <a:avLst/>
          </a:prstGeom>
          <a:solidFill>
            <a:srgbClr val="F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7FF"/>
                </a:solidFill>
                <a:latin typeface="Aptos"/>
              </a:rPr>
              <a:t>01 • Problem Statement &amp; Real-World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9BAD2"/>
                </a:solidFill>
                <a:latin typeface="Aptos"/>
              </a:rPr>
              <a:t>Why a digital library needs algorithmic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8D2FF"/>
                </a:solidFill>
                <a:latin typeface="Apto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257800" cy="4526280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69AA"/>
                </a:solidFill>
                <a:latin typeface="Aptos"/>
              </a:rPr>
              <a:t>THE PROBLEM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084832"/>
            <a:ext cx="73152" cy="73152"/>
          </a:xfrm>
          <a:prstGeom prst="ellipse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011680"/>
            <a:ext cx="4453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9AA"/>
                </a:solidFill>
                <a:latin typeface="Aptos"/>
              </a:rPr>
              <a:t>Digital libraries contain many different kinds of resources.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615184"/>
            <a:ext cx="73152" cy="73152"/>
          </a:xfrm>
          <a:prstGeom prst="ellipse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542032"/>
            <a:ext cx="4453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9AA"/>
                </a:solidFill>
                <a:latin typeface="Aptos"/>
              </a:rPr>
              <a:t>Users expect relevant results quickly from short keyword queries.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145536"/>
            <a:ext cx="73152" cy="73152"/>
          </a:xfrm>
          <a:prstGeom prst="ellipse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072384"/>
            <a:ext cx="4453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9AA"/>
                </a:solidFill>
                <a:latin typeface="Aptos"/>
              </a:rPr>
              <a:t>Spelling mistakes can make exact matching fail.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675888"/>
            <a:ext cx="73152" cy="73152"/>
          </a:xfrm>
          <a:prstGeom prst="ellipse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602736"/>
            <a:ext cx="4453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9AA"/>
                </a:solidFill>
                <a:latin typeface="Aptos"/>
              </a:rPr>
              <a:t>Search should provide ranking and related-resource discovery.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206240"/>
            <a:ext cx="73152" cy="73152"/>
          </a:xfrm>
          <a:prstGeom prst="ellipse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133088"/>
            <a:ext cx="4453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9AA"/>
                </a:solidFill>
                <a:latin typeface="Aptos"/>
              </a:rPr>
              <a:t>Users also need saved items, cart, library and activity features.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325880"/>
            <a:ext cx="5394960" cy="4526280"/>
          </a:xfrm>
          <a:prstGeom prst="roundRect">
            <a:avLst/>
          </a:prstGeom>
          <a:solidFill>
            <a:srgbClr val="142743"/>
          </a:solidFill>
          <a:ln>
            <a:solidFill>
              <a:srgbClr val="14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72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8D2FF"/>
                </a:solidFill>
                <a:latin typeface="Aptos"/>
              </a:rPr>
              <a:t>LIBRASEARCH SOLUTION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240280"/>
            <a:ext cx="1143000" cy="566928"/>
          </a:xfrm>
          <a:prstGeom prst="roundRect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3408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80F1E"/>
                </a:solidFill>
                <a:latin typeface="Aptos"/>
              </a:rPr>
              <a:t>QUERY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240280"/>
            <a:ext cx="1143000" cy="566928"/>
          </a:xfrm>
          <a:prstGeom prst="roundRect">
            <a:avLst/>
          </a:prstGeom>
          <a:solidFill>
            <a:srgbClr val="A075FF"/>
          </a:solidFill>
          <a:ln>
            <a:solidFill>
              <a:srgbClr val="A0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23408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80F1E"/>
                </a:solidFill>
                <a:latin typeface="Aptos"/>
              </a:rPr>
              <a:t>INDEX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2240280"/>
            <a:ext cx="1143000" cy="566928"/>
          </a:xfrm>
          <a:prstGeom prst="round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3408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80F1E"/>
                </a:solidFill>
                <a:latin typeface="Aptos"/>
              </a:rPr>
              <a:t>RANK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35640" y="2240280"/>
            <a:ext cx="1143000" cy="566928"/>
          </a:xfrm>
          <a:prstGeom prst="roundRect">
            <a:avLst/>
          </a:prstGeom>
          <a:solidFill>
            <a:srgbClr val="58E0A6"/>
          </a:solidFill>
          <a:ln>
            <a:solidFill>
              <a:srgbClr val="58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5640" y="23408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80F1E"/>
                </a:solidFill>
                <a:latin typeface="Aptos"/>
              </a:rPr>
              <a:t>DISCOVER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154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9BAD2"/>
                </a:solidFill>
                <a:latin typeface="Aptos"/>
              </a:rPr>
              <a:t>DAA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47472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7FF"/>
                </a:solidFill>
                <a:latin typeface="Aptos"/>
              </a:rPr>
              <a:t>Linear / Hash / Inverted Index
Merge Sort • Heap Top-K
Levenshtein • Jaccard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E0A6"/>
                </a:solidFill>
                <a:latin typeface="Aptos"/>
              </a:rPr>
              <a:t>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965192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7FF"/>
                </a:solidFill>
                <a:latin typeface="Aptos"/>
              </a:rPr>
              <a:t>Efficient discovery + relevant ranking + typo recovery + related resources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9BAD2"/>
                </a:solidFill>
                <a:latin typeface="Aptos"/>
              </a:rPr>
              <a:t>LibraSearch • Digital Library Search Optimizer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182880"/>
            <a:ext cx="1463040" cy="1463040"/>
          </a:xfrm>
          <a:prstGeom prst="ellipse">
            <a:avLst/>
          </a:prstGeom>
          <a:solidFill>
            <a:srgbClr val="A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486400"/>
            <a:ext cx="1097280" cy="1097280"/>
          </a:xfrm>
          <a:prstGeom prst="ellipse">
            <a:avLst/>
          </a:prstGeom>
          <a:solidFill>
            <a:srgbClr val="4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669280"/>
            <a:ext cx="1188720" cy="1188720"/>
          </a:xfrm>
          <a:prstGeom prst="ellipse">
            <a:avLst/>
          </a:prstGeom>
          <a:solidFill>
            <a:srgbClr val="F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7FF"/>
                </a:solidFill>
                <a:latin typeface="Aptos"/>
              </a:rPr>
              <a:t>02 • System Architecture &amp;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9BAD2"/>
                </a:solidFill>
                <a:latin typeface="Aptos"/>
              </a:rPr>
              <a:t>Browser → Flask → DAA engine → SQLite →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8D2FF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25880"/>
            <a:ext cx="10469880" cy="658368"/>
          </a:xfrm>
          <a:prstGeom prst="roundRect">
            <a:avLst/>
          </a:prstGeom>
          <a:solidFill>
            <a:srgbClr val="142743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1490472"/>
            <a:ext cx="1600200" cy="310896"/>
          </a:xfrm>
          <a:prstGeom prst="roundRect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522475"/>
            <a:ext cx="1545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USER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90472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7FF"/>
                </a:solidFill>
                <a:latin typeface="Aptos"/>
              </a:rPr>
              <a:t>HTML • CSS • JavaScript • responsive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240280"/>
            <a:ext cx="10469880" cy="658368"/>
          </a:xfrm>
          <a:prstGeom prst="roundRect">
            <a:avLst/>
          </a:prstGeom>
          <a:solidFill>
            <a:srgbClr val="142743"/>
          </a:solidFill>
          <a:ln>
            <a:solidFill>
              <a:srgbClr val="A0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2404872"/>
            <a:ext cx="1600200" cy="310896"/>
          </a:xfrm>
          <a:prstGeom prst="roundRect">
            <a:avLst/>
          </a:prstGeom>
          <a:solidFill>
            <a:srgbClr val="A075FF"/>
          </a:solidFill>
          <a:ln>
            <a:solidFill>
              <a:srgbClr val="A0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436876"/>
            <a:ext cx="1545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FLASK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404872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7FF"/>
                </a:solidFill>
                <a:latin typeface="Aptos"/>
              </a:rPr>
              <a:t>Routes • sessions • authentication • business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154680"/>
            <a:ext cx="10469880" cy="658368"/>
          </a:xfrm>
          <a:prstGeom prst="roundRect">
            <a:avLst/>
          </a:prstGeom>
          <a:solidFill>
            <a:srgbClr val="142743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3319272"/>
            <a:ext cx="1600200" cy="310896"/>
          </a:xfrm>
          <a:prstGeom prst="round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351276"/>
            <a:ext cx="1545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DAA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319272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7FF"/>
                </a:solidFill>
                <a:latin typeface="Aptos"/>
              </a:rPr>
              <a:t>Search • index • ranking • typo correction • similarity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069080"/>
            <a:ext cx="10469880" cy="658368"/>
          </a:xfrm>
          <a:prstGeom prst="roundRect">
            <a:avLst/>
          </a:prstGeom>
          <a:solidFill>
            <a:srgbClr val="142743"/>
          </a:solidFill>
          <a:ln>
            <a:solidFill>
              <a:srgbClr val="58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4233672"/>
            <a:ext cx="1600200" cy="310896"/>
          </a:xfrm>
          <a:prstGeom prst="roundRect">
            <a:avLst/>
          </a:prstGeom>
          <a:solidFill>
            <a:srgbClr val="58E0A6"/>
          </a:solidFill>
          <a:ln>
            <a:solidFill>
              <a:srgbClr val="58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265676"/>
            <a:ext cx="15453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SQLITE 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233672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7FF"/>
                </a:solidFill>
                <a:latin typeface="Aptos"/>
              </a:rPr>
              <a:t>Users • resources • wishlist • cart • orders • history • reading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109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9BAD2"/>
                </a:solidFill>
                <a:latin typeface="Aptos"/>
              </a:rPr>
              <a:t>CORE DATA ENTITIES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394960"/>
            <a:ext cx="1664208" cy="658368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504688"/>
            <a:ext cx="1517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F7FF"/>
                </a:solidFill>
                <a:latin typeface="Aptos"/>
              </a:rPr>
              <a:t>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5751576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9BAD2"/>
                </a:solidFill>
                <a:latin typeface="Aptos"/>
              </a:rPr>
              <a:t>auth / roles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60904" y="5394960"/>
            <a:ext cx="1664208" cy="658368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34056" y="5504688"/>
            <a:ext cx="1517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F7FF"/>
                </a:solidFill>
                <a:latin typeface="Aptos"/>
              </a:rPr>
              <a:t>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4056" y="5751576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9BAD2"/>
                </a:solidFill>
                <a:latin typeface="Aptos"/>
              </a:rPr>
              <a:t>books / papers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53128" y="5394960"/>
            <a:ext cx="1664208" cy="658368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5504688"/>
            <a:ext cx="1517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F7FF"/>
                </a:solidFill>
                <a:latin typeface="Aptos"/>
              </a:rPr>
              <a:t>Wishlist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751576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9BAD2"/>
                </a:solidFill>
                <a:latin typeface="Aptos"/>
              </a:rPr>
              <a:t>saved items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5352" y="5394960"/>
            <a:ext cx="1664208" cy="658368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5504688"/>
            <a:ext cx="1517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F7FF"/>
                </a:solidFill>
                <a:latin typeface="Aptos"/>
              </a:rPr>
              <a:t>Cart + Orders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18504" y="5751576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9BAD2"/>
                </a:solidFill>
                <a:latin typeface="Aptos"/>
              </a:rPr>
              <a:t>checkout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37575" y="5394960"/>
            <a:ext cx="1664208" cy="658368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10727" y="5504688"/>
            <a:ext cx="1517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F7FF"/>
                </a:solidFill>
                <a:latin typeface="Aptos"/>
              </a:rPr>
              <a:t>Search History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0727" y="5751576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9BAD2"/>
                </a:solidFill>
                <a:latin typeface="Aptos"/>
              </a:rPr>
              <a:t>analytics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5394960"/>
            <a:ext cx="1664208" cy="658368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2952" y="5504688"/>
            <a:ext cx="15179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F7FF"/>
                </a:solidFill>
                <a:latin typeface="Aptos"/>
              </a:rPr>
              <a:t>Reading Progress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2952" y="5751576"/>
            <a:ext cx="15179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A9BAD2"/>
                </a:solidFill>
                <a:latin typeface="Aptos"/>
              </a:rPr>
              <a:t>activity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9BAD2"/>
                </a:solidFill>
                <a:latin typeface="Aptos"/>
              </a:rPr>
              <a:t>LibraSearch • Digital Library Search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182880"/>
            <a:ext cx="1463040" cy="1463040"/>
          </a:xfrm>
          <a:prstGeom prst="ellipse">
            <a:avLst/>
          </a:prstGeom>
          <a:solidFill>
            <a:srgbClr val="A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486400"/>
            <a:ext cx="1097280" cy="1097280"/>
          </a:xfrm>
          <a:prstGeom prst="ellipse">
            <a:avLst/>
          </a:prstGeom>
          <a:solidFill>
            <a:srgbClr val="4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669280"/>
            <a:ext cx="1188720" cy="1188720"/>
          </a:xfrm>
          <a:prstGeom prst="ellipse">
            <a:avLst/>
          </a:prstGeom>
          <a:solidFill>
            <a:srgbClr val="F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7FF"/>
                </a:solidFill>
                <a:latin typeface="Aptos"/>
              </a:rPr>
              <a:t>03 • DAA Engine: Search, Rank, Correct &amp; Recommend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9BAD2"/>
                </a:solidFill>
                <a:latin typeface="Aptos"/>
              </a:rPr>
              <a:t>The academic core of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8D2FF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9BAD2"/>
                </a:solidFill>
                <a:latin typeface="Aptos"/>
              </a:rPr>
              <a:t>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2618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9BAD2"/>
                </a:solidFill>
                <a:latin typeface="Aptos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2618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9BAD2"/>
                </a:solidFill>
                <a:latin typeface="Aptos"/>
              </a:rPr>
              <a:t>COMPLEXITY /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09344"/>
            <a:ext cx="10881360" cy="393192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1650492"/>
            <a:ext cx="1874519" cy="310896"/>
          </a:xfrm>
          <a:prstGeom prst="roundRect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82495"/>
            <a:ext cx="1819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Linear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6642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2F7FF"/>
                </a:solidFill>
                <a:latin typeface="Aptos"/>
              </a:rPr>
              <a:t>Baseline sequential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6642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48D2FF"/>
                </a:solidFill>
                <a:latin typeface="Aptos"/>
              </a:rPr>
              <a:t>O(N)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048256"/>
            <a:ext cx="10881360" cy="393192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2089404"/>
            <a:ext cx="1874519" cy="310896"/>
          </a:xfrm>
          <a:prstGeom prst="roundRect">
            <a:avLst/>
          </a:prstGeom>
          <a:solidFill>
            <a:srgbClr val="A075FF"/>
          </a:solidFill>
          <a:ln>
            <a:solidFill>
              <a:srgbClr val="A0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121408"/>
            <a:ext cx="1819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Hash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031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2F7FF"/>
                </a:solidFill>
                <a:latin typeface="Aptos"/>
              </a:rPr>
              <a:t>Exact key lookup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03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A075FF"/>
                </a:solidFill>
                <a:latin typeface="Aptos"/>
              </a:rPr>
              <a:t>avg. O(1)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487168"/>
            <a:ext cx="10881360" cy="393192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2528316"/>
            <a:ext cx="1874519" cy="310896"/>
          </a:xfrm>
          <a:prstGeom prst="roundRect">
            <a:avLst/>
          </a:prstGeom>
          <a:solidFill>
            <a:srgbClr val="58E0A6"/>
          </a:solidFill>
          <a:ln>
            <a:solidFill>
              <a:srgbClr val="58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60320"/>
            <a:ext cx="1819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Inverted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254203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2F7FF"/>
                </a:solidFill>
                <a:latin typeface="Aptos"/>
              </a:rPr>
              <a:t>Keyword → resource 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542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58E0A6"/>
                </a:solidFill>
                <a:latin typeface="Aptos"/>
              </a:rPr>
              <a:t>index retrieval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926080"/>
            <a:ext cx="10881360" cy="393192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2967228"/>
            <a:ext cx="1874519" cy="310896"/>
          </a:xfrm>
          <a:prstGeom prst="round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99232"/>
            <a:ext cx="1819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Merge Sort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98094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2F7FF"/>
                </a:solidFill>
                <a:latin typeface="Aptos"/>
              </a:rPr>
              <a:t>Rank candidates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9809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FFC45C"/>
                </a:solidFill>
                <a:latin typeface="Aptos"/>
              </a:rPr>
              <a:t>O(N log 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364992"/>
            <a:ext cx="10881360" cy="393192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9808" y="3406140"/>
            <a:ext cx="1874519" cy="310896"/>
          </a:xfrm>
          <a:prstGeom prst="roundRect">
            <a:avLst/>
          </a:prstGeom>
          <a:solidFill>
            <a:srgbClr val="FF69AA"/>
          </a:solidFill>
          <a:ln>
            <a:solidFill>
              <a:srgbClr val="FF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438144"/>
            <a:ext cx="1819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Heap Top-K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341985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2F7FF"/>
                </a:solidFill>
                <a:latin typeface="Aptos"/>
              </a:rPr>
              <a:t>Keep best 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4198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FF69AA"/>
                </a:solidFill>
                <a:latin typeface="Aptos"/>
              </a:rPr>
              <a:t>O(N log K)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3803904"/>
            <a:ext cx="10881360" cy="393192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9808" y="3845052"/>
            <a:ext cx="1874519" cy="310896"/>
          </a:xfrm>
          <a:prstGeom prst="roundRect">
            <a:avLst/>
          </a:prstGeom>
          <a:solidFill>
            <a:srgbClr val="FF6973"/>
          </a:solidFill>
          <a:ln>
            <a:solidFill>
              <a:srgbClr val="F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877056"/>
            <a:ext cx="1819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Levenshtein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385876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2F7FF"/>
                </a:solidFill>
                <a:latin typeface="Aptos"/>
              </a:rPr>
              <a:t>Typo suggestions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8587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FF6973"/>
                </a:solidFill>
                <a:latin typeface="Aptos"/>
              </a:rPr>
              <a:t>O(mn)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242816"/>
            <a:ext cx="10881360" cy="393192"/>
          </a:xfrm>
          <a:prstGeom prst="roundRect">
            <a:avLst/>
          </a:prstGeom>
          <a:solidFill>
            <a:srgbClr val="101D34"/>
          </a:solidFill>
          <a:ln>
            <a:solidFill>
              <a:srgbClr val="101D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9808" y="4283964"/>
            <a:ext cx="1874519" cy="310896"/>
          </a:xfrm>
          <a:prstGeom prst="roundRect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315968"/>
            <a:ext cx="1819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Jaccard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42976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2F7FF"/>
                </a:solidFill>
                <a:latin typeface="Aptos"/>
              </a:rPr>
              <a:t>Related resources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297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48D2FF"/>
                </a:solidFill>
                <a:latin typeface="Aptos"/>
              </a:rPr>
              <a:t>|A∩B| / |A∪B|</a:t>
            </a:r>
          </a:p>
        </p:txBody>
      </p:sp>
      <p:pic>
        <p:nvPicPr>
          <p:cNvPr id="46" name="Picture 45" descr="librasearch_search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800600"/>
            <a:ext cx="5669280" cy="1572768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6629400" y="4800600"/>
            <a:ext cx="4892040" cy="1572768"/>
          </a:xfrm>
          <a:prstGeom prst="roundRect">
            <a:avLst/>
          </a:prstGeom>
          <a:solidFill>
            <a:srgbClr val="142743"/>
          </a:solidFill>
          <a:ln>
            <a:solidFill>
              <a:srgbClr val="14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50017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C45C"/>
                </a:solidFill>
                <a:latin typeface="Aptos"/>
              </a:rPr>
              <a:t>SEARCH PIPELINE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5321808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30" b="0">
                <a:solidFill>
                  <a:srgbClr val="F2F7FF"/>
                </a:solidFill>
                <a:latin typeface="Aptos"/>
              </a:rPr>
              <a:t>1. Receive query
2. Retrieve candidates
3. Compute relevance score
4. Merge Sort → ranked results
5. Return top results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9BAD2"/>
                </a:solidFill>
                <a:latin typeface="Aptos"/>
              </a:rPr>
              <a:t>LibraSearch • Digital Library Search Optimizer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182880"/>
            <a:ext cx="1463040" cy="1463040"/>
          </a:xfrm>
          <a:prstGeom prst="ellipse">
            <a:avLst/>
          </a:prstGeom>
          <a:solidFill>
            <a:srgbClr val="A07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38560" y="5486400"/>
            <a:ext cx="1097280" cy="1097280"/>
          </a:xfrm>
          <a:prstGeom prst="ellipse">
            <a:avLst/>
          </a:prstGeom>
          <a:solidFill>
            <a:srgbClr val="48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5669280"/>
            <a:ext cx="1188720" cy="1188720"/>
          </a:xfrm>
          <a:prstGeom prst="ellipse">
            <a:avLst/>
          </a:prstGeom>
          <a:solidFill>
            <a:srgbClr val="FF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7FF"/>
                </a:solidFill>
                <a:latin typeface="Aptos"/>
              </a:rPr>
              <a:t>04 • Product Features &amp; User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9BAD2"/>
                </a:solidFill>
                <a:latin typeface="Aptos"/>
              </a:rPr>
              <a:t>The algorithms are embedded inside a complete digital-library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48D2FF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2514600" cy="1572768"/>
          </a:xfrm>
          <a:prstGeom prst="roundRect">
            <a:avLst/>
          </a:prstGeom>
          <a:solidFill>
            <a:srgbClr val="101D34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2F7FF"/>
                </a:solidFill>
                <a:latin typeface="Aptos"/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11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9BAD2"/>
                </a:solidFill>
                <a:latin typeface="Aptos"/>
              </a:rPr>
              <a:t>Keyword search, filters, algorithm selection, suggestions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325880"/>
            <a:ext cx="2514600" cy="1572768"/>
          </a:xfrm>
          <a:prstGeom prst="roundRect">
            <a:avLst/>
          </a:prstGeom>
          <a:solidFill>
            <a:srgbClr val="101D34"/>
          </a:solidFill>
          <a:ln>
            <a:solidFill>
              <a:srgbClr val="A0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52704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2F7FF"/>
                </a:solidFill>
                <a:latin typeface="Aptos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011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9BAD2"/>
                </a:solidFill>
                <a:latin typeface="Aptos"/>
              </a:rPr>
              <a:t>Resource details, ratings, views and related resources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25880"/>
            <a:ext cx="2514600" cy="1572768"/>
          </a:xfrm>
          <a:prstGeom prst="roundRect">
            <a:avLst/>
          </a:prstGeom>
          <a:solidFill>
            <a:srgbClr val="101D34"/>
          </a:solidFill>
          <a:ln>
            <a:solidFill>
              <a:srgbClr val="FF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2704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2F7FF"/>
                </a:solidFill>
                <a:latin typeface="Aptos"/>
              </a:rPr>
              <a:t>WISHLIST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011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9BAD2"/>
                </a:solidFill>
                <a:latin typeface="Aptos"/>
              </a:rPr>
              <a:t>Save resources for later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325880"/>
            <a:ext cx="2514600" cy="1572768"/>
          </a:xfrm>
          <a:prstGeom prst="roundRect">
            <a:avLst/>
          </a:prstGeom>
          <a:solidFill>
            <a:srgbClr val="101D34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52704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2F7FF"/>
                </a:solidFill>
                <a:latin typeface="Aptos"/>
              </a:rPr>
              <a:t>CART + 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201168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9BAD2"/>
                </a:solidFill>
                <a:latin typeface="Aptos"/>
              </a:rPr>
              <a:t>Demo purchase flow and transaction record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2514600" cy="1572768"/>
          </a:xfrm>
          <a:prstGeom prst="roundRect">
            <a:avLst/>
          </a:prstGeom>
          <a:solidFill>
            <a:srgbClr val="101D34"/>
          </a:solidFill>
          <a:ln>
            <a:solidFill>
              <a:srgbClr val="58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4728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2F7FF"/>
                </a:solidFill>
                <a:latin typeface="Aptos"/>
              </a:rPr>
              <a:t>MY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39319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9BAD2"/>
                </a:solidFill>
                <a:latin typeface="Aptos"/>
              </a:rPr>
              <a:t>Purchased resources in one personal space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3246120"/>
            <a:ext cx="2514600" cy="1572768"/>
          </a:xfrm>
          <a:prstGeom prst="roundRect">
            <a:avLst/>
          </a:prstGeom>
          <a:solidFill>
            <a:srgbClr val="101D34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344728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2F7FF"/>
                </a:solidFill>
                <a:latin typeface="Aptos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39319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9BAD2"/>
                </a:solidFill>
                <a:latin typeface="Aptos"/>
              </a:rPr>
              <a:t>Searches, wishlist, orders and recent activity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246120"/>
            <a:ext cx="2514600" cy="1572768"/>
          </a:xfrm>
          <a:prstGeom prst="roundRect">
            <a:avLst/>
          </a:prstGeom>
          <a:solidFill>
            <a:srgbClr val="101D34"/>
          </a:solidFill>
          <a:ln>
            <a:solidFill>
              <a:srgbClr val="A0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44728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2F7FF"/>
                </a:solidFill>
                <a:latin typeface="Aptos"/>
              </a:rPr>
              <a:t>ALGORITHM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9319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9BAD2"/>
                </a:solidFill>
                <a:latin typeface="Aptos"/>
              </a:rPr>
              <a:t>Live benchmark comparison for search methods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3246120"/>
            <a:ext cx="2514600" cy="1572768"/>
          </a:xfrm>
          <a:prstGeom prst="roundRect">
            <a:avLst/>
          </a:prstGeom>
          <a:solidFill>
            <a:srgbClr val="101D34"/>
          </a:solidFill>
          <a:ln>
            <a:solidFill>
              <a:srgbClr val="F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3447288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2F7FF"/>
                </a:solidFill>
                <a:latin typeface="Aptos"/>
              </a:rPr>
              <a:t>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93192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A9BAD2"/>
                </a:solidFill>
                <a:latin typeface="Aptos"/>
              </a:rPr>
              <a:t>Resource management, statistics and index rebuild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30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9BAD2"/>
                </a:solidFill>
                <a:latin typeface="Aptos"/>
              </a:rPr>
              <a:t>USER JOURNEY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0" y="5175504"/>
            <a:ext cx="1325880" cy="310896"/>
          </a:xfrm>
          <a:prstGeom prst="roundRect">
            <a:avLst/>
          </a:prstGeom>
          <a:solidFill>
            <a:srgbClr val="48D2FF"/>
          </a:solidFill>
          <a:ln>
            <a:solidFill>
              <a:srgbClr val="48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39112" y="5207508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Search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5175504"/>
            <a:ext cx="1325880" cy="310896"/>
          </a:xfrm>
          <a:prstGeom prst="roundRect">
            <a:avLst/>
          </a:prstGeom>
          <a:solidFill>
            <a:srgbClr val="A075FF"/>
          </a:solidFill>
          <a:ln>
            <a:solidFill>
              <a:srgbClr val="A0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9312" y="5207508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Inspect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2080" y="5175504"/>
            <a:ext cx="1325880" cy="310896"/>
          </a:xfrm>
          <a:prstGeom prst="roundRect">
            <a:avLst/>
          </a:prstGeom>
          <a:solidFill>
            <a:srgbClr val="FF69AA"/>
          </a:solidFill>
          <a:ln>
            <a:solidFill>
              <a:srgbClr val="FF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9512" y="5207508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Save / Cart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80" y="5175504"/>
            <a:ext cx="1325880" cy="310896"/>
          </a:xfrm>
          <a:prstGeom prst="roundRect">
            <a:avLst/>
          </a:prstGeom>
          <a:solidFill>
            <a:srgbClr val="FFC45C"/>
          </a:solidFill>
          <a:ln>
            <a:solidFill>
              <a:srgbClr val="FFC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2" y="5207508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Checkout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5175504"/>
            <a:ext cx="1325880" cy="310896"/>
          </a:xfrm>
          <a:prstGeom prst="roundRect">
            <a:avLst/>
          </a:prstGeom>
          <a:solidFill>
            <a:srgbClr val="58E0A6"/>
          </a:solidFill>
          <a:ln>
            <a:solidFill>
              <a:srgbClr val="58E0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9911" y="5207508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80F1E"/>
                </a:solidFill>
                <a:latin typeface="Aptos"/>
              </a:rPr>
              <a:t>My Library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8704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9BAD2"/>
                </a:solidFill>
                <a:latin typeface="Aptos"/>
              </a:rPr>
              <a:t>Demo flow: machine learning → typo correction → related resources → checkout → My Library → Algorithm Lab.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9BAD2"/>
                </a:solidFill>
                <a:latin typeface="Aptos"/>
              </a:rPr>
              <a:t>LibraSearch • Digital Library Search Optimizer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457200"/>
            <a:ext cx="1828800" cy="1828800"/>
          </a:xfrm>
          <a:prstGeom prst="ellipse">
            <a:avLst/>
          </a:prstGeom>
          <a:solidFill>
            <a:srgbClr val="20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303520"/>
            <a:ext cx="2011680" cy="2011680"/>
          </a:xfrm>
          <a:prstGeom prst="ellipse">
            <a:avLst/>
          </a:prstGeom>
          <a:solidFill>
            <a:srgbClr val="18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 — REAL-WORLD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881360" cy="3520440"/>
          </a:xfrm>
          <a:prstGeom prst="roundRect">
            <a:avLst/>
          </a:prstGeom>
          <a:solidFill>
            <a:srgbClr val="141F35"/>
          </a:solidFill>
          <a:ln>
            <a:solidFill>
              <a:srgbClr val="418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E1EBF8"/>
                </a:solidFill>
              </a:defRPr>
            </a:pPr>
            <a:r>
              <a:t>LibraSearch provides a theoretical and practical solution to a common real-world problem: </a:t>
            </a:r>
          </a:p>
          <a:p>
            <a:pPr>
              <a:spcAft>
                <a:spcPts val="300"/>
              </a:spcAft>
              <a:defRPr sz="1700" b="0">
                <a:solidFill>
                  <a:srgbClr val="E1EBF8"/>
                </a:solidFill>
              </a:defRPr>
            </a:pPr>
            <a:r>
              <a:t>as digital libraries grow, users need a faster and more organized way to find relevant learning resources.</a:t>
            </a:r>
          </a:p>
          <a:p>
            <a:br/>
            <a:br/>
            <a:pPr>
              <a:spcAft>
                <a:spcPts val="300"/>
              </a:spcAft>
              <a:defRPr sz="1800" b="1">
                <a:solidFill>
                  <a:srgbClr val="E1EBF8"/>
                </a:solidFill>
              </a:defRPr>
            </a:pPr>
            <a:r>
              <a:t>How the project solves it:</a:t>
            </a:r>
          </a:p>
          <a:p>
            <a:br/>
            <a:pPr>
              <a:spcAft>
                <a:spcPts val="300"/>
              </a:spcAft>
              <a:defRPr sz="1700" b="0">
                <a:solidFill>
                  <a:srgbClr val="E1EBF8"/>
                </a:solidFill>
              </a:defRPr>
            </a:pPr>
            <a:r>
              <a:t>• Searching is optimized using Linear Search, Hash Lookup and an Inverted Index.</a:t>
            </a:r>
            <a:br/>
            <a:r>
              <a:t>• Merge Sort and Heap-based Top-K organize and prioritize results efficiently.</a:t>
            </a:r>
            <a:br/>
            <a:r>
              <a:t>• Levenshtein Distance helps handle spelling mistakes, while Jaccard Similarity supports related-resource discovery.</a:t>
            </a:r>
            <a:br/>
            <a:r>
              <a:t>• SQLite and Flask connect the algorithms with real user features such as accounts, wishlist, cart, library and reading progress.</a:t>
            </a:r>
          </a:p>
          <a:p>
            <a:br/>
            <a:br/>
            <a:pPr>
              <a:spcAft>
                <a:spcPts val="300"/>
              </a:spcAft>
              <a:defRPr sz="1800" b="1">
                <a:solidFill>
                  <a:srgbClr val="E1EBF8"/>
                </a:solidFill>
              </a:defRPr>
            </a:pPr>
            <a:r>
              <a:t>Therefore, LibraSearch demonstrates how DAA concepts can move beyond theory and become useful components of a real information-retrieval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i="1">
                <a:solidFill>
                  <a:srgbClr val="70CDEB"/>
                </a:solidFill>
              </a:defRPr>
            </a:pPr>
            <a:r>
              <a:t>“From algorithms to application — smarter search, better discovery, and a more useful digital library.”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06440"/>
            <a:ext cx="121916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